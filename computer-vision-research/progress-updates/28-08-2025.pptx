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7" r:id="rId5"/>
    <p:sldId id="273" r:id="rId6"/>
    <p:sldId id="258" r:id="rId7"/>
    <p:sldId id="25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68" autoAdjust="0"/>
    <p:restoredTop sz="94660"/>
  </p:normalViewPr>
  <p:slideViewPr>
    <p:cSldViewPr snapToGrid="0">
      <p:cViewPr varScale="1">
        <p:scale>
          <a:sx n="74" d="100"/>
          <a:sy n="74" d="100"/>
        </p:scale>
        <p:origin x="97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37FF1-A468-9E9F-1869-2F5E9D9BF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DA186-1B30-EBD4-EA0E-5D83DE3919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4C160-6611-B6D5-71AB-DEF3E6A2B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B359-620B-4CB7-8B4E-0FBE21EB8E65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C4AE0-DAAD-10BC-EE1C-800E6648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8962A-A973-D76B-D77B-61650058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D5E-1DE8-4E74-A4A8-D04EFB1DD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74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0896D-0B42-3DF1-E6A1-FF97318D9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E3A5D-F108-BEDB-4510-BF1FBF2AA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2EB57-E112-A151-1499-5494BB1A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B359-620B-4CB7-8B4E-0FBE21EB8E65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7EE40-F169-21BB-9D90-89D276855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15040-1CEB-4A7D-4DC6-02BC65DA9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D5E-1DE8-4E74-A4A8-D04EFB1DD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39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D473-09DE-B20F-9383-9FC80E5F7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EF6AC-8F10-BEAA-B774-969CCF69C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FE1C2-F860-1B5A-B8EB-CDB5A8D59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B359-620B-4CB7-8B4E-0FBE21EB8E65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659BE-3BE1-0345-F034-DE53AC453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A35B1-A164-CC11-758E-C87971CA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D5E-1DE8-4E74-A4A8-D04EFB1DD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941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0BDA6-97DF-56CC-9F34-66AD5023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8685F-201E-8A7F-54E9-0150441B8A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774FB-D28E-DF94-9A0D-AF33670EF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52A0D-619D-9018-7E6B-26A1A811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B359-620B-4CB7-8B4E-0FBE21EB8E65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75569-8888-3138-7097-FA5C3EAC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26414-E4AB-A35A-9BBA-0897BE7E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D5E-1DE8-4E74-A4A8-D04EFB1DD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20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A4EB0-A50D-3747-BACB-583C3F05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4EE8A-F551-60E3-B76A-9EA4252E3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0DE94-167B-BAE5-10D7-FD7DF2F7D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265F6-917D-30A2-D5F3-5ECAFE9BD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8088F-866F-6690-5AD3-56B127EDCB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19394E-C0D5-A128-BDBC-14A752864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B359-620B-4CB7-8B4E-0FBE21EB8E65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32B80D-CBD2-02D8-4EBA-DB7DE0F17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95478-ECDA-1940-C1E5-167958FD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D5E-1DE8-4E74-A4A8-D04EFB1DD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875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A591-87D8-AF35-8001-BA779693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3CFF86-C752-9222-2E08-BE4DDFE0C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B359-620B-4CB7-8B4E-0FBE21EB8E65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6B4951-6D87-EDE3-C115-C6F5E6C81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FB460-A9DF-AF7A-7A8B-605AB9CF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D5E-1DE8-4E74-A4A8-D04EFB1DD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910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7C3D3-F09A-090A-788C-4A249215F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B359-620B-4CB7-8B4E-0FBE21EB8E65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53698-93E9-28B2-A644-9B13A184F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46093-E081-F325-EE01-0D235942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D5E-1DE8-4E74-A4A8-D04EFB1DD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01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1039-9AB1-585E-D9E7-F52D44C66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937C7-F6A4-891C-5E07-776F82E37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E88EB-57D6-9317-ADB9-1DB2D72B5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3CE99-B7A9-DBD0-EA9D-C5D39CB0B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B359-620B-4CB7-8B4E-0FBE21EB8E65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D817E-9FE4-26C8-3F21-29F1AA720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9FF07-9397-B35A-E22C-C2961BC29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D5E-1DE8-4E74-A4A8-D04EFB1DD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705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E9F2-0073-2EE1-13F6-A3496470A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60C8E-9C48-AFFF-8DB9-629413EEF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1461B-EFC5-F434-BB5D-7A4DFA14F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618E2-A76E-32C3-4ECE-1C6616A7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B359-620B-4CB7-8B4E-0FBE21EB8E65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A609C-78E3-7B8C-C245-5A2E0496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947BD-4CA4-0460-F5C1-6409BE22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D5E-1DE8-4E74-A4A8-D04EFB1DD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684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B2639-3ACB-E78B-7805-BC3EE4573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423BB-3B2F-C015-19F3-7C44618B5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F4140-7D03-7F60-A2EB-8B53AA696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B359-620B-4CB7-8B4E-0FBE21EB8E65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32F9A-BED8-A408-8AD5-19D62714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922C5-B1CD-26B4-46A1-4A6313FB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D5E-1DE8-4E74-A4A8-D04EFB1DD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968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0BE77E-B929-9EDF-2D7A-A8068FC9F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E0BAF-CB3E-CB2F-F3EE-228D6BD96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12E9F-1033-2986-2CF8-21F7CA5C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B359-620B-4CB7-8B4E-0FBE21EB8E65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4E98E-CBA3-5A21-AECD-6A5E1017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45529-2C7D-3BC7-991F-8A39C93C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D5E-1DE8-4E74-A4A8-D04EFB1DD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966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59F06A-E192-2804-54B1-5EB0A53A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B2314-3221-E5FB-4A0A-31ECBB018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F137B-49E8-B3C8-D925-00FD343917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3B359-620B-4CB7-8B4E-0FBE21EB8E65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32F97-A6A4-8694-5DE4-2C509F3AA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E53F5-C307-4DAD-6FFD-CEA45ED3D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C9D5E-1DE8-4E74-A4A8-D04EFB1DD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740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2653-D3A4-53B6-1D4F-FDF911FF2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519706"/>
          </a:xfrm>
        </p:spPr>
        <p:txBody>
          <a:bodyPr>
            <a:normAutofit/>
          </a:bodyPr>
          <a:lstStyle/>
          <a:p>
            <a:r>
              <a:rPr lang="en-IN" dirty="0"/>
              <a:t>Progress update</a:t>
            </a:r>
            <a:br>
              <a:rPr lang="en-IN" dirty="0"/>
            </a:br>
            <a:r>
              <a:rPr lang="en-IN" sz="2200" dirty="0"/>
              <a:t>Sanjay Singh Gurjar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EC7A8-23A5-CD93-0478-CC17CF8C5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6670" y="2009104"/>
            <a:ext cx="11178861" cy="4507606"/>
          </a:xfrm>
        </p:spPr>
        <p:txBody>
          <a:bodyPr>
            <a:normAutofit/>
          </a:bodyPr>
          <a:lstStyle/>
          <a:p>
            <a:r>
              <a:rPr lang="en-IN" b="1" dirty="0"/>
              <a:t>Topics covered so far</a:t>
            </a:r>
          </a:p>
          <a:p>
            <a:pPr marL="457200" indent="-457200">
              <a:buAutoNum type="arabicPeriod"/>
            </a:pPr>
            <a:r>
              <a:rPr lang="en-IN" b="1" dirty="0"/>
              <a:t>Image processing</a:t>
            </a:r>
          </a:p>
          <a:p>
            <a:pPr marL="457200" indent="-457200">
              <a:buAutoNum type="arabicPeriod"/>
            </a:pPr>
            <a:r>
              <a:rPr lang="en-IN" b="1" dirty="0"/>
              <a:t>Computer vision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2005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BBFCC-4365-7AEC-5556-38C451818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335"/>
            <a:ext cx="10515600" cy="104318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topics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5F86F-1A95-640D-11B2-CB3F212F5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958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1. cv2 (image plotting, image cropping, resizing, kernels, </a:t>
            </a:r>
            <a:r>
              <a:rPr lang="en-IN" dirty="0" err="1"/>
              <a:t>rgb</a:t>
            </a:r>
            <a:r>
              <a:rPr lang="en-IN" dirty="0"/>
              <a:t>, grayscale, matplotlib)</a:t>
            </a:r>
          </a:p>
          <a:p>
            <a:r>
              <a:rPr lang="en-IN" dirty="0"/>
              <a:t>2. Image processing</a:t>
            </a:r>
          </a:p>
          <a:p>
            <a:r>
              <a:rPr lang="en-IN" dirty="0"/>
              <a:t>3. Machine vision system coordinate system</a:t>
            </a:r>
          </a:p>
          <a:p>
            <a:r>
              <a:rPr lang="en-IN" dirty="0"/>
              <a:t>4. Intrinsic parameters and extrinsic parameters</a:t>
            </a:r>
          </a:p>
          <a:p>
            <a:r>
              <a:rPr lang="en-IN" dirty="0"/>
              <a:t>5. Euler angles </a:t>
            </a:r>
          </a:p>
          <a:p>
            <a:r>
              <a:rPr lang="en-IN" dirty="0"/>
              <a:t>6.Quaternions</a:t>
            </a:r>
          </a:p>
          <a:p>
            <a:r>
              <a:rPr lang="en-IN" dirty="0"/>
              <a:t>7. Gimble lock</a:t>
            </a:r>
          </a:p>
          <a:p>
            <a:r>
              <a:rPr lang="en-IN" dirty="0"/>
              <a:t>8. Rotation vector</a:t>
            </a:r>
          </a:p>
          <a:p>
            <a:r>
              <a:rPr lang="en-IN" dirty="0"/>
              <a:t>9. Key-point detection</a:t>
            </a:r>
          </a:p>
          <a:p>
            <a:r>
              <a:rPr lang="en-IN" dirty="0"/>
              <a:t>10. 6 degree-of-freedom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16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7958-296F-4AA6-3577-0398DB9C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4277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6A085-D8F9-5CDD-E199-D67352C97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9403"/>
            <a:ext cx="10515600" cy="4837560"/>
          </a:xfrm>
        </p:spPr>
        <p:txBody>
          <a:bodyPr>
            <a:normAutofit/>
          </a:bodyPr>
          <a:lstStyle/>
          <a:p>
            <a:r>
              <a:rPr lang="en-IN" sz="2400" dirty="0"/>
              <a:t> CNN/Neural network</a:t>
            </a:r>
          </a:p>
          <a:p>
            <a:r>
              <a:rPr lang="en-IN" sz="2400" dirty="0"/>
              <a:t>Computer vision tasks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linemod</a:t>
            </a:r>
            <a:r>
              <a:rPr lang="en-IN" sz="2400" dirty="0"/>
              <a:t> dataset</a:t>
            </a:r>
          </a:p>
        </p:txBody>
      </p:sp>
    </p:spTree>
    <p:extLst>
      <p:ext uri="{BB962C8B-B14F-4D97-AF65-F5344CB8AC3E}">
        <p14:creationId xmlns:p14="http://schemas.microsoft.com/office/powerpoint/2010/main" val="1775053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640F-109E-1956-010E-10B44033D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Cv2 and matplotlib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4B8E5-6974-F895-1145-FEBAEFFB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cv2 as cv</a:t>
            </a:r>
          </a:p>
          <a:p>
            <a:pPr marL="0" indent="0">
              <a:buNone/>
            </a:pPr>
            <a:r>
              <a:rPr lang="en-US" dirty="0" err="1"/>
              <a:t>Img</a:t>
            </a:r>
            <a:r>
              <a:rPr lang="en-US" dirty="0"/>
              <a:t>=cv2.imread(“”)</a:t>
            </a:r>
          </a:p>
          <a:p>
            <a:pPr marL="0" indent="0">
              <a:buNone/>
            </a:pPr>
            <a:r>
              <a:rPr lang="en-US" dirty="0"/>
              <a:t>Cv2.imshow()</a:t>
            </a:r>
          </a:p>
          <a:p>
            <a:pPr marL="0" indent="0">
              <a:buNone/>
            </a:pPr>
            <a:r>
              <a:rPr lang="en-US" dirty="0"/>
              <a:t>Cv2.waitkey()</a:t>
            </a:r>
          </a:p>
          <a:p>
            <a:pPr marL="0" indent="0">
              <a:buNone/>
            </a:pPr>
            <a:r>
              <a:rPr lang="en-IN" dirty="0" err="1"/>
              <a:t>Imgresize</a:t>
            </a:r>
            <a:r>
              <a:rPr lang="en-IN" dirty="0"/>
              <a:t>=cv2.resize(image, (400,400))</a:t>
            </a:r>
          </a:p>
          <a:p>
            <a:pPr marL="0" indent="0">
              <a:buNone/>
            </a:pPr>
            <a:r>
              <a:rPr lang="en-IN" dirty="0" err="1"/>
              <a:t>Imgcrop</a:t>
            </a:r>
            <a:r>
              <a:rPr lang="en-IN" dirty="0"/>
              <a:t>=image[0:200,300:500]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Figss</a:t>
            </a:r>
            <a:r>
              <a:rPr lang="en-IN" dirty="0"/>
              <a:t>=</a:t>
            </a:r>
            <a:r>
              <a:rPr lang="en-IN" dirty="0" err="1"/>
              <a:t>plt.figure</a:t>
            </a:r>
            <a:r>
              <a:rPr lang="en-IN" dirty="0"/>
              <a:t>(</a:t>
            </a:r>
            <a:r>
              <a:rPr lang="en-IN" dirty="0" err="1"/>
              <a:t>figsize</a:t>
            </a:r>
            <a:r>
              <a:rPr lang="en-IN" dirty="0"/>
              <a:t>=(10,10))</a:t>
            </a:r>
          </a:p>
          <a:p>
            <a:pPr marL="0" indent="0">
              <a:buNone/>
            </a:pPr>
            <a:r>
              <a:rPr lang="en-IN" dirty="0" err="1"/>
              <a:t>Plt.subplot</a:t>
            </a:r>
            <a:r>
              <a:rPr lang="en-IN" dirty="0"/>
              <a:t>(1,2,1)</a:t>
            </a:r>
          </a:p>
          <a:p>
            <a:pPr marL="0" indent="0">
              <a:buNone/>
            </a:pPr>
            <a:r>
              <a:rPr lang="en-IN" dirty="0" err="1"/>
              <a:t>Plt.title</a:t>
            </a:r>
            <a:r>
              <a:rPr lang="en-IN" dirty="0"/>
              <a:t>(“ data ”)</a:t>
            </a:r>
          </a:p>
          <a:p>
            <a:pPr marL="0" indent="0">
              <a:buNone/>
            </a:pPr>
            <a:r>
              <a:rPr lang="en-IN" dirty="0" err="1"/>
              <a:t>Plt.imshow</a:t>
            </a:r>
            <a:r>
              <a:rPr lang="en-IN" dirty="0"/>
              <a:t>(</a:t>
            </a:r>
            <a:r>
              <a:rPr lang="en-IN" dirty="0" err="1"/>
              <a:t>image,cmap</a:t>
            </a:r>
            <a:r>
              <a:rPr lang="en-IN" dirty="0"/>
              <a:t>=‘</a:t>
            </a:r>
            <a:r>
              <a:rPr lang="en-IN" dirty="0" err="1"/>
              <a:t>gray</a:t>
            </a:r>
            <a:r>
              <a:rPr lang="en-IN" dirty="0"/>
              <a:t>’)</a:t>
            </a:r>
          </a:p>
          <a:p>
            <a:pPr marL="0" indent="0">
              <a:buNone/>
            </a:pPr>
            <a:r>
              <a:rPr lang="en-IN" dirty="0" err="1"/>
              <a:t>Plt.axis</a:t>
            </a:r>
            <a:r>
              <a:rPr lang="en-IN" dirty="0"/>
              <a:t>(‘off’)</a:t>
            </a:r>
          </a:p>
        </p:txBody>
      </p:sp>
    </p:spTree>
    <p:extLst>
      <p:ext uri="{BB962C8B-B14F-4D97-AF65-F5344CB8AC3E}">
        <p14:creationId xmlns:p14="http://schemas.microsoft.com/office/powerpoint/2010/main" val="326059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508A-F463-C6E8-F987-DAB0C3AB7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59098"/>
          </a:xfrm>
        </p:spPr>
        <p:txBody>
          <a:bodyPr/>
          <a:lstStyle/>
          <a:p>
            <a:r>
              <a:rPr lang="en-US" dirty="0"/>
              <a:t>Image processing: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A9A16-2C0D-134D-6D75-A0822C7EC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607882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Edge detection: </a:t>
            </a:r>
            <a:r>
              <a:rPr lang="en-US" dirty="0" err="1"/>
              <a:t>sobel</a:t>
            </a:r>
            <a:r>
              <a:rPr lang="en-US" dirty="0"/>
              <a:t> filter</a:t>
            </a:r>
          </a:p>
          <a:p>
            <a:r>
              <a:rPr lang="en-IN" dirty="0" err="1"/>
              <a:t>sobelx</a:t>
            </a:r>
            <a:r>
              <a:rPr lang="en-IN" dirty="0"/>
              <a:t> = cv2.Sobel(</a:t>
            </a:r>
            <a:r>
              <a:rPr lang="en-IN" dirty="0" err="1"/>
              <a:t>grayimg,int</a:t>
            </a:r>
            <a:r>
              <a:rPr lang="en-IN" dirty="0"/>
              <a:t>(cv2.CV_64F),1,0,ksize=3)</a:t>
            </a:r>
          </a:p>
          <a:p>
            <a:r>
              <a:rPr lang="en-IN" b="1" dirty="0"/>
              <a:t>Noise remove</a:t>
            </a:r>
            <a:r>
              <a:rPr lang="en-IN" dirty="0"/>
              <a:t>: gaussian filter</a:t>
            </a:r>
          </a:p>
          <a:p>
            <a:r>
              <a:rPr lang="en-IN" b="1" dirty="0"/>
              <a:t>Geometric transformation</a:t>
            </a:r>
            <a:r>
              <a:rPr lang="en-IN" dirty="0"/>
              <a:t>: </a:t>
            </a:r>
          </a:p>
          <a:p>
            <a:r>
              <a:rPr lang="en-IN" dirty="0"/>
              <a:t>1. </a:t>
            </a:r>
            <a:r>
              <a:rPr lang="en-IN" dirty="0" err="1"/>
              <a:t>warpAffine</a:t>
            </a:r>
            <a:r>
              <a:rPr lang="en-IN" dirty="0"/>
              <a:t>(2x2)</a:t>
            </a:r>
          </a:p>
          <a:p>
            <a:r>
              <a:rPr lang="en-IN" dirty="0"/>
              <a:t>2. </a:t>
            </a:r>
            <a:r>
              <a:rPr lang="en-IN" dirty="0" err="1"/>
              <a:t>warpPerspective</a:t>
            </a:r>
            <a:r>
              <a:rPr lang="en-IN" dirty="0"/>
              <a:t>(3x3)</a:t>
            </a:r>
          </a:p>
          <a:p>
            <a:r>
              <a:rPr lang="en-IN" b="1" dirty="0"/>
              <a:t>Scaling</a:t>
            </a:r>
            <a:r>
              <a:rPr lang="en-IN" dirty="0"/>
              <a:t>: </a:t>
            </a:r>
          </a:p>
          <a:p>
            <a:r>
              <a:rPr lang="en-IN" dirty="0"/>
              <a:t>res = </a:t>
            </a:r>
            <a:r>
              <a:rPr lang="en-IN" dirty="0" err="1"/>
              <a:t>cv.resize</a:t>
            </a:r>
            <a:r>
              <a:rPr lang="en-IN" dirty="0"/>
              <a:t>(</a:t>
            </a:r>
            <a:r>
              <a:rPr lang="en-IN" dirty="0" err="1"/>
              <a:t>img,None,fx</a:t>
            </a:r>
            <a:r>
              <a:rPr lang="en-IN" dirty="0"/>
              <a:t>=2, </a:t>
            </a:r>
            <a:r>
              <a:rPr lang="en-IN" dirty="0" err="1"/>
              <a:t>fy</a:t>
            </a:r>
            <a:r>
              <a:rPr lang="en-IN" dirty="0"/>
              <a:t>=2, interpolation = </a:t>
            </a:r>
            <a:r>
              <a:rPr lang="en-IN" dirty="0" err="1"/>
              <a:t>cv.INTER_CUBIC</a:t>
            </a:r>
            <a:r>
              <a:rPr lang="en-IN" dirty="0"/>
              <a:t>)</a:t>
            </a:r>
          </a:p>
          <a:p>
            <a:br>
              <a:rPr lang="en-IN" dirty="0"/>
            </a:br>
            <a:r>
              <a:rPr lang="en-IN" b="1" dirty="0"/>
              <a:t>translation</a:t>
            </a:r>
            <a:r>
              <a:rPr lang="en-IN" dirty="0"/>
              <a:t>:</a:t>
            </a:r>
          </a:p>
          <a:p>
            <a:r>
              <a:rPr lang="en-US" dirty="0"/>
              <a:t>M = np.float32([[1,0,100],[0,1,50]])</a:t>
            </a:r>
            <a:endParaRPr lang="en-IN" dirty="0"/>
          </a:p>
          <a:p>
            <a:r>
              <a:rPr lang="en-US" dirty="0" err="1"/>
              <a:t>dst</a:t>
            </a:r>
            <a:r>
              <a:rPr lang="en-US" dirty="0"/>
              <a:t> = </a:t>
            </a:r>
            <a:r>
              <a:rPr lang="en-US" dirty="0" err="1"/>
              <a:t>cv.warpAffine</a:t>
            </a:r>
            <a:r>
              <a:rPr lang="en-US" dirty="0"/>
              <a:t>(</a:t>
            </a:r>
            <a:r>
              <a:rPr lang="en-US" dirty="0" err="1"/>
              <a:t>img,M</a:t>
            </a:r>
            <a:r>
              <a:rPr lang="en-US" dirty="0"/>
              <a:t>,(</a:t>
            </a:r>
            <a:r>
              <a:rPr lang="en-US" dirty="0" err="1"/>
              <a:t>cols,rows</a:t>
            </a:r>
            <a:r>
              <a:rPr lang="en-US" dirty="0"/>
              <a:t>))</a:t>
            </a:r>
          </a:p>
          <a:p>
            <a:r>
              <a:rPr lang="en-US" b="1" dirty="0"/>
              <a:t>Rotation</a:t>
            </a:r>
            <a:r>
              <a:rPr lang="en-US" dirty="0"/>
              <a:t>:</a:t>
            </a:r>
          </a:p>
          <a:p>
            <a:r>
              <a:rPr lang="en-IN" dirty="0"/>
              <a:t>M = cv.getRotationMatrix2D(((cols-1)/2.0,(rows-1)/2.0),90,1)</a:t>
            </a:r>
          </a:p>
          <a:p>
            <a:r>
              <a:rPr lang="en-IN" dirty="0" err="1"/>
              <a:t>dst</a:t>
            </a:r>
            <a:r>
              <a:rPr lang="en-IN" dirty="0"/>
              <a:t> = </a:t>
            </a:r>
            <a:r>
              <a:rPr lang="en-IN" dirty="0" err="1"/>
              <a:t>cv.warpAffine</a:t>
            </a:r>
            <a:r>
              <a:rPr lang="en-IN" dirty="0"/>
              <a:t>(</a:t>
            </a:r>
            <a:r>
              <a:rPr lang="en-IN" dirty="0" err="1"/>
              <a:t>img,M</a:t>
            </a:r>
            <a:r>
              <a:rPr lang="en-IN" dirty="0"/>
              <a:t>,(</a:t>
            </a:r>
            <a:r>
              <a:rPr lang="en-IN" dirty="0" err="1"/>
              <a:t>cols,rows</a:t>
            </a:r>
            <a:r>
              <a:rPr lang="en-IN" dirty="0"/>
              <a:t>))</a:t>
            </a:r>
          </a:p>
          <a:p>
            <a:r>
              <a:rPr lang="en-US" b="1" dirty="0"/>
              <a:t>Affine transformation:</a:t>
            </a:r>
          </a:p>
          <a:p>
            <a:r>
              <a:rPr lang="en-US" dirty="0"/>
              <a:t>Preservers lines and parallelism but not (distance and angles)</a:t>
            </a:r>
          </a:p>
          <a:p>
            <a:r>
              <a:rPr lang="en-US" b="1" dirty="0"/>
              <a:t>Perspective transformation: </a:t>
            </a:r>
            <a:r>
              <a:rPr lang="en-US" dirty="0"/>
              <a:t>image alignment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242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C096-688A-4996-6099-F8DDFFC0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, </a:t>
            </a:r>
            <a:r>
              <a:rPr lang="en-US" dirty="0" err="1"/>
              <a:t>rgb</a:t>
            </a:r>
            <a:r>
              <a:rPr lang="en-US" dirty="0"/>
              <a:t>, grayscale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B4C12-C8B1-27DA-A7D9-768163A79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5" y="1204767"/>
            <a:ext cx="13226173" cy="6003524"/>
          </a:xfrm>
        </p:spPr>
        <p:txBody>
          <a:bodyPr/>
          <a:lstStyle/>
          <a:p>
            <a:r>
              <a:rPr lang="en-US" dirty="0"/>
              <a:t>Kernel is a small matrix used to apply effects (blurring, </a:t>
            </a:r>
            <a:r>
              <a:rPr lang="en-US" dirty="0" err="1"/>
              <a:t>sharpening,outlining</a:t>
            </a:r>
            <a:r>
              <a:rPr lang="en-US" dirty="0"/>
              <a:t>)</a:t>
            </a:r>
          </a:p>
          <a:p>
            <a:r>
              <a:rPr lang="en-US" dirty="0" err="1"/>
              <a:t>Rgb</a:t>
            </a:r>
            <a:r>
              <a:rPr lang="en-US" dirty="0"/>
              <a:t> (height width, color channel) 3 color values for every pixel</a:t>
            </a:r>
          </a:p>
          <a:p>
            <a:r>
              <a:rPr lang="en-US" dirty="0"/>
              <a:t>Grayscale (height, width, intensity)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30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2F3F4-3BB1-CA24-DFC7-EF7465099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Vision system coordinate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044BF-E89E-9114-DE8F-9CF60108B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725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World coordinate system</a:t>
            </a:r>
          </a:p>
          <a:p>
            <a:r>
              <a:rPr lang="en-US" dirty="0"/>
              <a:t>Image coordinate system</a:t>
            </a:r>
          </a:p>
          <a:p>
            <a:r>
              <a:rPr lang="en-US" dirty="0"/>
              <a:t>Camera coordinate system</a:t>
            </a:r>
          </a:p>
          <a:p>
            <a:r>
              <a:rPr lang="en-US" dirty="0"/>
              <a:t>Pixel coordinate system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6173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51323-115A-09F4-C9EA-F64EAB0A4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089F-E3E3-7992-FBE6-698502CA6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b="1" dirty="0"/>
              <a:t>Camera coordinate system and pixel coordinate system</a:t>
            </a:r>
          </a:p>
          <a:p>
            <a:r>
              <a:rPr lang="en-US" dirty="0"/>
              <a:t>To determine their relationship, we extend the normal image coordinates (x, y) </a:t>
            </a:r>
            <a:r>
              <a:rPr lang="en-US" b="1" dirty="0"/>
              <a:t>to homogeneous coordinates </a:t>
            </a:r>
            <a:r>
              <a:rPr lang="en-US" dirty="0"/>
              <a:t>(x, y, 1)</a:t>
            </a:r>
          </a:p>
          <a:p>
            <a:pPr fontAlgn="base"/>
            <a:r>
              <a:rPr lang="en-US" b="1" dirty="0"/>
              <a:t>World coordinate system and camera coordinate system</a:t>
            </a:r>
          </a:p>
          <a:p>
            <a:r>
              <a:rPr lang="en-US" dirty="0"/>
              <a:t>The relationship between the two coordinate systems is a </a:t>
            </a:r>
            <a:r>
              <a:rPr lang="en-US" b="1" dirty="0"/>
              <a:t>rigid body transformation </a:t>
            </a:r>
            <a:r>
              <a:rPr lang="en-US" dirty="0"/>
              <a:t>(rigid body transformation: the rotation and translation of a geometric object when the object does not deform</a:t>
            </a:r>
          </a:p>
          <a:p>
            <a:pPr fontAlgn="base"/>
            <a:r>
              <a:rPr lang="en-US" b="1" dirty="0"/>
              <a:t>From world coordinates to pixel coordinates</a:t>
            </a:r>
          </a:p>
          <a:p>
            <a:r>
              <a:rPr lang="en-US" dirty="0"/>
              <a:t>Combining the above derivation processes, the world coordinates (</a:t>
            </a:r>
            <a:r>
              <a:rPr lang="en-US" dirty="0" err="1"/>
              <a:t>X</a:t>
            </a:r>
            <a:r>
              <a:rPr lang="en-US" baseline="-25000" dirty="0" err="1"/>
              <a:t>w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w</a:t>
            </a:r>
            <a:r>
              <a:rPr lang="en-US" dirty="0"/>
              <a:t>, </a:t>
            </a:r>
            <a:r>
              <a:rPr lang="en-US" dirty="0" err="1"/>
              <a:t>Z</a:t>
            </a:r>
            <a:r>
              <a:rPr lang="en-US" baseline="-25000" dirty="0" err="1"/>
              <a:t>w</a:t>
            </a:r>
            <a:r>
              <a:rPr lang="en-US" dirty="0"/>
              <a:t>) -&gt; camera coordinates (</a:t>
            </a:r>
            <a:r>
              <a:rPr lang="en-US" dirty="0" err="1"/>
              <a:t>X</a:t>
            </a:r>
            <a:r>
              <a:rPr lang="en-US" baseline="-25000" dirty="0" err="1"/>
              <a:t>c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c</a:t>
            </a:r>
            <a:r>
              <a:rPr lang="en-US" dirty="0"/>
              <a:t>, </a:t>
            </a:r>
            <a:r>
              <a:rPr lang="en-US" dirty="0" err="1"/>
              <a:t>Z</a:t>
            </a:r>
            <a:r>
              <a:rPr lang="en-US" baseline="-25000" dirty="0" err="1"/>
              <a:t>c</a:t>
            </a:r>
            <a:r>
              <a:rPr lang="en-US" dirty="0"/>
              <a:t>) -&gt; image coordinates (x, y) -&gt; pixel coordinates (u, v). 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156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F1611-354C-D8A0-23F9-7B75C548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Intrinsic and extrinsic parameters: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4FF0E-0BAA-CFC4-2477-7B103A14A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Intrinsic parameters include focal length, decenter coefficient, and skew coefficient.</a:t>
            </a:r>
            <a:br>
              <a:rPr lang="en-US" dirty="0"/>
            </a:br>
            <a:r>
              <a:rPr lang="en-US" dirty="0"/>
              <a:t>(1) </a:t>
            </a:r>
            <a:r>
              <a:rPr lang="en-US" b="1" dirty="0"/>
              <a:t>Focal length</a:t>
            </a:r>
            <a:endParaRPr lang="en-US" dirty="0"/>
          </a:p>
          <a:p>
            <a:r>
              <a:rPr lang="en-US" dirty="0"/>
              <a:t>(2) </a:t>
            </a:r>
            <a:r>
              <a:rPr lang="en-US" b="1" dirty="0"/>
              <a:t>Decenter coefficient</a:t>
            </a:r>
            <a:br>
              <a:rPr lang="en-US" dirty="0"/>
            </a:br>
            <a:r>
              <a:rPr lang="en-US" dirty="0"/>
              <a:t>(3) </a:t>
            </a:r>
            <a:r>
              <a:rPr lang="en-US" b="1" dirty="0"/>
              <a:t>Skew Coefficient</a:t>
            </a:r>
            <a:endParaRPr lang="en-US" dirty="0"/>
          </a:p>
          <a:p>
            <a:pPr fontAlgn="base"/>
            <a:r>
              <a:rPr lang="en-US" b="1" dirty="0"/>
              <a:t>Extrinsic parameters</a:t>
            </a:r>
          </a:p>
          <a:p>
            <a:r>
              <a:rPr lang="en-US" dirty="0"/>
              <a:t>Extrinsic parameter represents the relative position and orientation between the </a:t>
            </a:r>
            <a:r>
              <a:rPr lang="en-US" u="sng" dirty="0"/>
              <a:t>TOF camera </a:t>
            </a:r>
            <a:r>
              <a:rPr lang="en-US" dirty="0"/>
              <a:t>and the RGB camera, consisting of 3D rotation and 3D translation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672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ED76C-9ED9-50A4-D00F-929F3CA4B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1031875"/>
            <a:ext cx="10515600" cy="625475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b="1" dirty="0"/>
              <a:t>	 Various Forms of Extrinsic Parameters</a:t>
            </a:r>
            <a:br>
              <a:rPr lang="en-US" b="1" dirty="0"/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1C953-42E5-D6FA-9B2B-28C79BCA6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Euler Angles</a:t>
            </a:r>
          </a:p>
          <a:p>
            <a:pPr marL="0" indent="0" fontAlgn="base">
              <a:buNone/>
            </a:pPr>
            <a:r>
              <a:rPr lang="en-US" dirty="0"/>
              <a:t>Gimble lock issue</a:t>
            </a:r>
          </a:p>
          <a:p>
            <a:pPr fontAlgn="base"/>
            <a:r>
              <a:rPr lang="en-IN" b="1" dirty="0"/>
              <a:t>Quaternions</a:t>
            </a:r>
          </a:p>
          <a:p>
            <a:pPr fontAlgn="base"/>
            <a:r>
              <a:rPr lang="en-IN" dirty="0"/>
              <a:t>Don’t face gimble lock issue</a:t>
            </a:r>
          </a:p>
        </p:txBody>
      </p:sp>
    </p:spTree>
    <p:extLst>
      <p:ext uri="{BB962C8B-B14F-4D97-AF65-F5344CB8AC3E}">
        <p14:creationId xmlns:p14="http://schemas.microsoft.com/office/powerpoint/2010/main" val="3517690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8D16-1391-9EA0-3860-EACB386F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Gimble lock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40794-2209-1459-DA83-017569432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occurs when the Pitch = +-90 deg. In this orientation, the Roll and Yaw angles will become mathematically unstable. </a:t>
            </a:r>
          </a:p>
        </p:txBody>
      </p:sp>
    </p:spTree>
    <p:extLst>
      <p:ext uri="{BB962C8B-B14F-4D97-AF65-F5344CB8AC3E}">
        <p14:creationId xmlns:p14="http://schemas.microsoft.com/office/powerpoint/2010/main" val="3279833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70B8-16A3-B090-0AE1-265D8EC38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Quaternions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30F71-6666-7F4B-56E6-C6EAB6D6C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5"/>
            <a:ext cx="10515600" cy="47577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Quaternions are represented by packs of 4 numbers (</a:t>
            </a:r>
            <a:r>
              <a:rPr lang="en-US" dirty="0" err="1"/>
              <a:t>a,b,c,d</a:t>
            </a:r>
            <a:r>
              <a:rPr lang="en-US" dirty="0"/>
              <a:t>)</a:t>
            </a:r>
          </a:p>
          <a:p>
            <a:r>
              <a:rPr lang="en-US" dirty="0"/>
              <a:t>Quaternions of the form (a,0,0,0) behave exactly like real numbers a and are identified with them</a:t>
            </a:r>
          </a:p>
          <a:p>
            <a:r>
              <a:rPr lang="en-US" dirty="0" err="1"/>
              <a:t>i,j,k</a:t>
            </a:r>
            <a:r>
              <a:rPr lang="en-US" dirty="0"/>
              <a:t> are special quaternions defined by </a:t>
            </a:r>
            <a:r>
              <a:rPr lang="en-US" dirty="0" err="1"/>
              <a:t>i</a:t>
            </a:r>
            <a:r>
              <a:rPr lang="en-US" dirty="0"/>
              <a:t>=(0,1,0,0) j=(0,0,1,0) and k=(0,0,0,1)</a:t>
            </a:r>
          </a:p>
          <a:p>
            <a:r>
              <a:rPr lang="en-US" dirty="0"/>
              <a:t>Addition and subtraction of quaternions is component-wise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6533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EE12E-AD26-9075-B1BB-523852C5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</a:t>
            </a:r>
            <a:r>
              <a:rPr lang="en-US" dirty="0" err="1"/>
              <a:t>dof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AAD6C-D6AF-C053-4C48-98E76B5F2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head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924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2A80D-D952-CBA3-D2A0-20B08B0A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Quaternions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E85AB-4EEF-1A94-C56B-C8BD1072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encoding orientation :quaternion.</a:t>
            </a:r>
          </a:p>
          <a:p>
            <a:r>
              <a:rPr lang="en-US" dirty="0"/>
              <a:t>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E03CA-FD3A-8F01-CE20-059A24BB8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850" y="2337594"/>
            <a:ext cx="2269746" cy="270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122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AE7B-8DDC-EE8D-9294-8110B133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475"/>
            <a:ext cx="10515600" cy="858128"/>
          </a:xfrm>
        </p:spPr>
        <p:txBody>
          <a:bodyPr/>
          <a:lstStyle/>
          <a:p>
            <a:r>
              <a:rPr lang="en-US" dirty="0"/>
              <a:t>CNN and Neural Network</a:t>
            </a:r>
            <a:endParaRPr lang="en-IN" dirty="0"/>
          </a:p>
        </p:txBody>
      </p:sp>
      <p:pic>
        <p:nvPicPr>
          <p:cNvPr id="3075" name="Picture 3" descr="A Gentle Introduction to Neural Networks - CleverTap">
            <a:extLst>
              <a:ext uri="{FF2B5EF4-FFF2-40B4-BE49-F238E27FC236}">
                <a16:creationId xmlns:a16="http://schemas.microsoft.com/office/drawing/2014/main" id="{5D63609B-5F83-B6D2-DB41-9B8D72D8BF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193" y="1706318"/>
            <a:ext cx="5624311" cy="264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Introduction to Convolutional Neural Network - Analytics Vidhya">
            <a:extLst>
              <a:ext uri="{FF2B5EF4-FFF2-40B4-BE49-F238E27FC236}">
                <a16:creationId xmlns:a16="http://schemas.microsoft.com/office/drawing/2014/main" id="{DFB9900A-37AA-39B4-1C47-12EE85E50F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6AA28B4-372C-991C-1CDA-B92C69CEE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21228"/>
            <a:ext cx="4713506" cy="281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791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61210-8329-B1BF-F1A0-83A2653D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Line-mod dataset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28F25F-E584-04A1-8ECF-EF8A8DFD0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8288" y="1825625"/>
            <a:ext cx="6375423" cy="4351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C476F5-48E2-0308-4AAC-5F9330726A63}"/>
              </a:ext>
            </a:extLst>
          </p:cNvPr>
          <p:cNvSpPr txBox="1"/>
          <p:nvPr/>
        </p:nvSpPr>
        <p:spPr>
          <a:xfrm>
            <a:off x="476250" y="2333625"/>
            <a:ext cx="2009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6d pose estimation dataset</a:t>
            </a:r>
          </a:p>
          <a:p>
            <a:r>
              <a:rPr lang="en-US" dirty="0"/>
              <a:t>15 </a:t>
            </a:r>
            <a:r>
              <a:rPr lang="en-US"/>
              <a:t>different objects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9727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709</Words>
  <Application>Microsoft Office PowerPoint</Application>
  <PresentationFormat>Widescreen</PresentationFormat>
  <Paragraphs>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Progress update Sanjay Singh Gurjar</vt:lpstr>
      <vt:lpstr>topics</vt:lpstr>
      <vt:lpstr>topics</vt:lpstr>
      <vt:lpstr>Cv2 and matplotlib</vt:lpstr>
      <vt:lpstr>Image processing:</vt:lpstr>
      <vt:lpstr>Kernel , rgb, grayscale</vt:lpstr>
      <vt:lpstr>Machine Vision system coordinate system</vt:lpstr>
      <vt:lpstr>Conversions:</vt:lpstr>
      <vt:lpstr>Intrinsic and extrinsic parameters: </vt:lpstr>
      <vt:lpstr>  Various Forms of Extrinsic Parameters  </vt:lpstr>
      <vt:lpstr>Gimble lock</vt:lpstr>
      <vt:lpstr>Quaternions</vt:lpstr>
      <vt:lpstr>6 dof</vt:lpstr>
      <vt:lpstr>Quaternions</vt:lpstr>
      <vt:lpstr>CNN and Neural Network</vt:lpstr>
      <vt:lpstr>Line-mod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Sanjay Singh</dc:creator>
  <cp:lastModifiedBy>Sanjay Singh</cp:lastModifiedBy>
  <cp:revision>31</cp:revision>
  <dcterms:created xsi:type="dcterms:W3CDTF">2025-08-27T15:59:03Z</dcterms:created>
  <dcterms:modified xsi:type="dcterms:W3CDTF">2025-08-28T11:29:14Z</dcterms:modified>
</cp:coreProperties>
</file>