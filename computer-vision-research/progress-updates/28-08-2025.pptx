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0" r:id="rId4"/>
    <p:sldId id="257" r:id="rId5"/>
    <p:sldId id="273" r:id="rId6"/>
    <p:sldId id="258" r:id="rId7"/>
    <p:sldId id="259" r:id="rId8"/>
    <p:sldId id="274" r:id="rId9"/>
    <p:sldId id="275" r:id="rId10"/>
    <p:sldId id="276" r:id="rId11"/>
    <p:sldId id="277" r:id="rId12"/>
    <p:sldId id="263" r:id="rId13"/>
    <p:sldId id="278" r:id="rId14"/>
    <p:sldId id="262" r:id="rId15"/>
    <p:sldId id="264" r:id="rId16"/>
    <p:sldId id="265" r:id="rId17"/>
    <p:sldId id="266" r:id="rId18"/>
    <p:sldId id="267" r:id="rId19"/>
    <p:sldId id="268" r:id="rId20"/>
    <p:sldId id="269" r:id="rId21"/>
    <p:sldId id="27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368" autoAdjust="0"/>
    <p:restoredTop sz="94660"/>
  </p:normalViewPr>
  <p:slideViewPr>
    <p:cSldViewPr snapToGrid="0">
      <p:cViewPr>
        <p:scale>
          <a:sx n="75" d="100"/>
          <a:sy n="75" d="100"/>
        </p:scale>
        <p:origin x="882" y="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37FF1-A468-9E9F-1869-2F5E9D9BF7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FDA186-1B30-EBD4-EA0E-5D83DE3919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4C160-6611-B6D5-71AB-DEF3E6A2B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3B359-620B-4CB7-8B4E-0FBE21EB8E65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7C4AE0-DAAD-10BC-EE1C-800E66484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8962A-A973-D76B-D77B-61650058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D5E-1DE8-4E74-A4A8-D04EFB1DD0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8749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0896D-0B42-3DF1-E6A1-FF97318D9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E3A5D-F108-BEDB-4510-BF1FBF2AA7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32EB57-E112-A151-1499-5494BB1A6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3B359-620B-4CB7-8B4E-0FBE21EB8E65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7EE40-F169-21BB-9D90-89D276855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E15040-1CEB-4A7D-4DC6-02BC65DA9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D5E-1DE8-4E74-A4A8-D04EFB1DD0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5397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7D473-09DE-B20F-9383-9FC80E5F7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EF6AC-8F10-BEAA-B774-969CCF69C5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2FE1C2-F860-1B5A-B8EB-CDB5A8D59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3B359-620B-4CB7-8B4E-0FBE21EB8E65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659BE-3BE1-0345-F034-DE53AC453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A35B1-A164-CC11-758E-C87971CAE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D5E-1DE8-4E74-A4A8-D04EFB1DD0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7941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0BDA6-97DF-56CC-9F34-66AD50238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8685F-201E-8A7F-54E9-0150441B8A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8774FB-D28E-DF94-9A0D-AF33670EF8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C52A0D-619D-9018-7E6B-26A1A811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3B359-620B-4CB7-8B4E-0FBE21EB8E65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875569-8888-3138-7097-FA5C3EAC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B26414-E4AB-A35A-9BBA-0897BE7E7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D5E-1DE8-4E74-A4A8-D04EFB1DD0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0209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A4EB0-A50D-3747-BACB-583C3F055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A4EE8A-F551-60E3-B76A-9EA4252E39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90DE94-167B-BAE5-10D7-FD7DF2F7D0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265F6-917D-30A2-D5F3-5ECAFE9BD0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E8088F-866F-6690-5AD3-56B127EDCB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19394E-C0D5-A128-BDBC-14A752864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3B359-620B-4CB7-8B4E-0FBE21EB8E65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32B80D-CBD2-02D8-4EBA-DB7DE0F17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595478-ECDA-1940-C1E5-167958FDE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D5E-1DE8-4E74-A4A8-D04EFB1DD0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3875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2A591-87D8-AF35-8001-BA7796939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3CFF86-C752-9222-2E08-BE4DDFE0C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3B359-620B-4CB7-8B4E-0FBE21EB8E65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6B4951-6D87-EDE3-C115-C6F5E6C81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AFB460-A9DF-AF7A-7A8B-605AB9CF1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D5E-1DE8-4E74-A4A8-D04EFB1DD0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8910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F7C3D3-F09A-090A-788C-4A249215F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3B359-620B-4CB7-8B4E-0FBE21EB8E65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53698-93E9-28B2-A644-9B13A184F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446093-E081-F325-EE01-0D235942D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D5E-1DE8-4E74-A4A8-D04EFB1DD0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80171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B1039-9AB1-585E-D9E7-F52D44C66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937C7-F6A4-891C-5E07-776F82E37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7E88EB-57D6-9317-ADB9-1DB2D72B54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13CE99-B7A9-DBD0-EA9D-C5D39CB0B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3B359-620B-4CB7-8B4E-0FBE21EB8E65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2D817E-9FE4-26C8-3F21-29F1AA720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59FF07-9397-B35A-E22C-C2961BC29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D5E-1DE8-4E74-A4A8-D04EFB1DD0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5705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BE9F2-0073-2EE1-13F6-A3496470A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A60C8E-9C48-AFFF-8DB9-629413EEFE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91461B-EFC5-F434-BB5D-7A4DFA14F9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618E2-A76E-32C3-4ECE-1C6616A76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3B359-620B-4CB7-8B4E-0FBE21EB8E65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8A609C-78E3-7B8C-C245-5A2E04964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8947BD-4CA4-0460-F5C1-6409BE22C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D5E-1DE8-4E74-A4A8-D04EFB1DD0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5684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B2639-3ACB-E78B-7805-BC3EE4573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F423BB-3B2F-C015-19F3-7C44618B5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3F4140-7D03-7F60-A2EB-8B53AA696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3B359-620B-4CB7-8B4E-0FBE21EB8E65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A32F9A-BED8-A408-8AD5-19D627145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E922C5-B1CD-26B4-46A1-4A6313FB2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D5E-1DE8-4E74-A4A8-D04EFB1DD0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6968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0BE77E-B929-9EDF-2D7A-A8068FC9F7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E0BAF-CB3E-CB2F-F3EE-228D6BD96C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E12E9F-1033-2986-2CF8-21F7CA5C1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3B359-620B-4CB7-8B4E-0FBE21EB8E65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4E98E-CBA3-5A21-AECD-6A5E10178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45529-2C7D-3BC7-991F-8A39C93C6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D5E-1DE8-4E74-A4A8-D04EFB1DD0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6966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59F06A-E192-2804-54B1-5EB0A53A8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8B2314-3221-E5FB-4A0A-31ECBB0182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F137B-49E8-B3C8-D925-00FD343917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3B359-620B-4CB7-8B4E-0FBE21EB8E65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232F97-A6A4-8694-5DE4-2C509F3AAB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E53F5-C307-4DAD-6FFD-CEA45ED3DD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4C9D5E-1DE8-4E74-A4A8-D04EFB1DD0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5740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42653-D3A4-53B6-1D4F-FDF911FF2A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1519706"/>
          </a:xfrm>
        </p:spPr>
        <p:txBody>
          <a:bodyPr>
            <a:normAutofit/>
          </a:bodyPr>
          <a:lstStyle/>
          <a:p>
            <a:r>
              <a:rPr lang="en-IN" dirty="0"/>
              <a:t>Progress update</a:t>
            </a:r>
            <a:br>
              <a:rPr lang="en-IN" dirty="0"/>
            </a:br>
            <a:r>
              <a:rPr lang="en-IN" sz="2200" dirty="0"/>
              <a:t>Sanjay Singh Gurjar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9EC7A8-23A5-CD93-0478-CC17CF8C54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6670" y="2009104"/>
            <a:ext cx="11178861" cy="4507606"/>
          </a:xfrm>
        </p:spPr>
        <p:txBody>
          <a:bodyPr>
            <a:normAutofit/>
          </a:bodyPr>
          <a:lstStyle/>
          <a:p>
            <a:r>
              <a:rPr lang="en-IN" b="1" dirty="0"/>
              <a:t>Topics covered so far</a:t>
            </a:r>
          </a:p>
          <a:p>
            <a:pPr marL="457200" indent="-457200">
              <a:buAutoNum type="arabicPeriod"/>
            </a:pPr>
            <a:r>
              <a:rPr lang="en-IN" b="1" dirty="0"/>
              <a:t>Image processing</a:t>
            </a:r>
          </a:p>
          <a:p>
            <a:pPr marL="457200" indent="-457200">
              <a:buAutoNum type="arabicPeriod"/>
            </a:pPr>
            <a:r>
              <a:rPr lang="en-IN" b="1" dirty="0"/>
              <a:t>Computer vision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2005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BBFCC-4365-7AEC-5556-38C451818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335"/>
            <a:ext cx="10515600" cy="1043189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topics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5F86F-1A95-640D-11B2-CB3F212F5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958" y="1825625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IN" dirty="0"/>
              <a:t>1. cv2 (image plotting, image cropping, resizing, kernels, </a:t>
            </a:r>
            <a:r>
              <a:rPr lang="en-IN" dirty="0" err="1"/>
              <a:t>rgb</a:t>
            </a:r>
            <a:r>
              <a:rPr lang="en-IN" dirty="0"/>
              <a:t>, grayscale, matplotlib)</a:t>
            </a:r>
          </a:p>
          <a:p>
            <a:r>
              <a:rPr lang="en-IN" dirty="0"/>
              <a:t>2. Image processing</a:t>
            </a:r>
          </a:p>
          <a:p>
            <a:r>
              <a:rPr lang="en-IN" dirty="0"/>
              <a:t>3. Machine vision system coordinate system</a:t>
            </a:r>
          </a:p>
          <a:p>
            <a:r>
              <a:rPr lang="en-IN" dirty="0"/>
              <a:t>4. Intrinsic parameters and extrinsic parameters</a:t>
            </a:r>
          </a:p>
          <a:p>
            <a:r>
              <a:rPr lang="en-IN" dirty="0"/>
              <a:t>5. Euler angles </a:t>
            </a:r>
          </a:p>
          <a:p>
            <a:r>
              <a:rPr lang="en-IN" dirty="0"/>
              <a:t>6.Quaternions</a:t>
            </a:r>
          </a:p>
          <a:p>
            <a:r>
              <a:rPr lang="en-IN" dirty="0"/>
              <a:t>7. Gimble lock</a:t>
            </a:r>
          </a:p>
          <a:p>
            <a:r>
              <a:rPr lang="en-IN" dirty="0"/>
              <a:t>8. Rotation vector</a:t>
            </a:r>
          </a:p>
          <a:p>
            <a:r>
              <a:rPr lang="en-IN" dirty="0"/>
              <a:t>9. Key-point detection</a:t>
            </a:r>
          </a:p>
          <a:p>
            <a:r>
              <a:rPr lang="en-IN" dirty="0"/>
              <a:t>10. 6 degree-of-freedom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716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27958-296F-4AA6-3577-0398DB9CA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74277"/>
          </a:xfrm>
        </p:spPr>
        <p:txBody>
          <a:bodyPr>
            <a:normAutofit/>
          </a:bodyPr>
          <a:lstStyle/>
          <a:p>
            <a:pPr algn="ctr"/>
            <a:r>
              <a:rPr lang="en-IN" b="1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6A085-D8F9-5CDD-E199-D67352C97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9403"/>
            <a:ext cx="10515600" cy="4837560"/>
          </a:xfrm>
        </p:spPr>
        <p:txBody>
          <a:bodyPr>
            <a:normAutofit/>
          </a:bodyPr>
          <a:lstStyle/>
          <a:p>
            <a:r>
              <a:rPr lang="en-IN" sz="2400" dirty="0"/>
              <a:t> CNN/Neural network</a:t>
            </a:r>
          </a:p>
          <a:p>
            <a:r>
              <a:rPr lang="en-IN" sz="2400" dirty="0"/>
              <a:t>Computer vision tasks</a:t>
            </a:r>
          </a:p>
          <a:p>
            <a:r>
              <a:rPr lang="en-IN" sz="2400" dirty="0"/>
              <a:t> </a:t>
            </a:r>
            <a:r>
              <a:rPr lang="en-IN" sz="2400" dirty="0" err="1"/>
              <a:t>linemod</a:t>
            </a:r>
            <a:r>
              <a:rPr lang="en-IN" sz="2400" dirty="0"/>
              <a:t> dataset</a:t>
            </a:r>
          </a:p>
        </p:txBody>
      </p:sp>
    </p:spTree>
    <p:extLst>
      <p:ext uri="{BB962C8B-B14F-4D97-AF65-F5344CB8AC3E}">
        <p14:creationId xmlns:p14="http://schemas.microsoft.com/office/powerpoint/2010/main" val="17750535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F640F-109E-1956-010E-10B44033D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Cv2 and matplotlib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4B8E5-6974-F895-1145-FEBAEFFB8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Import cv2 as cv</a:t>
            </a:r>
          </a:p>
          <a:p>
            <a:pPr marL="0" indent="0">
              <a:buNone/>
            </a:pPr>
            <a:r>
              <a:rPr lang="en-US" dirty="0" err="1"/>
              <a:t>Img</a:t>
            </a:r>
            <a:r>
              <a:rPr lang="en-US" dirty="0"/>
              <a:t>=cv2.imread(“”)</a:t>
            </a:r>
          </a:p>
          <a:p>
            <a:pPr marL="0" indent="0">
              <a:buNone/>
            </a:pPr>
            <a:r>
              <a:rPr lang="en-US" dirty="0"/>
              <a:t>Cv2.imshow()</a:t>
            </a:r>
          </a:p>
          <a:p>
            <a:pPr marL="0" indent="0">
              <a:buNone/>
            </a:pPr>
            <a:r>
              <a:rPr lang="en-US" dirty="0"/>
              <a:t>Cv2.waitkey()</a:t>
            </a:r>
          </a:p>
          <a:p>
            <a:pPr marL="0" indent="0">
              <a:buNone/>
            </a:pPr>
            <a:r>
              <a:rPr lang="en-IN" dirty="0" err="1"/>
              <a:t>Imgresize</a:t>
            </a:r>
            <a:r>
              <a:rPr lang="en-IN" dirty="0"/>
              <a:t>=cv2.resize(image, (400,400))</a:t>
            </a:r>
          </a:p>
          <a:p>
            <a:pPr marL="0" indent="0">
              <a:buNone/>
            </a:pPr>
            <a:r>
              <a:rPr lang="en-IN" dirty="0" err="1"/>
              <a:t>Imgcrop</a:t>
            </a:r>
            <a:r>
              <a:rPr lang="en-IN" dirty="0"/>
              <a:t>=image[0:200,300:500]</a:t>
            </a:r>
          </a:p>
          <a:p>
            <a:pPr marL="0" indent="0">
              <a:buNone/>
            </a:pPr>
            <a:r>
              <a:rPr lang="en-IN" dirty="0"/>
              <a:t>Import </a:t>
            </a:r>
            <a:r>
              <a:rPr lang="en-IN" dirty="0" err="1"/>
              <a:t>matplotlib.pyplot</a:t>
            </a:r>
            <a:r>
              <a:rPr lang="en-IN" dirty="0"/>
              <a:t> as </a:t>
            </a:r>
            <a:r>
              <a:rPr lang="en-IN" dirty="0" err="1"/>
              <a:t>plt</a:t>
            </a:r>
            <a:endParaRPr lang="en-IN" dirty="0"/>
          </a:p>
          <a:p>
            <a:pPr marL="0" indent="0">
              <a:buNone/>
            </a:pPr>
            <a:r>
              <a:rPr lang="en-IN" dirty="0" err="1"/>
              <a:t>Figss</a:t>
            </a:r>
            <a:r>
              <a:rPr lang="en-IN" dirty="0"/>
              <a:t>=</a:t>
            </a:r>
            <a:r>
              <a:rPr lang="en-IN" dirty="0" err="1"/>
              <a:t>plt.figure</a:t>
            </a:r>
            <a:r>
              <a:rPr lang="en-IN" dirty="0"/>
              <a:t>(</a:t>
            </a:r>
            <a:r>
              <a:rPr lang="en-IN" dirty="0" err="1"/>
              <a:t>figsize</a:t>
            </a:r>
            <a:r>
              <a:rPr lang="en-IN" dirty="0"/>
              <a:t>=(10,10))</a:t>
            </a:r>
          </a:p>
          <a:p>
            <a:pPr marL="0" indent="0">
              <a:buNone/>
            </a:pPr>
            <a:r>
              <a:rPr lang="en-IN" dirty="0" err="1"/>
              <a:t>Plt.subplot</a:t>
            </a:r>
            <a:r>
              <a:rPr lang="en-IN" dirty="0"/>
              <a:t>(1,2,1)</a:t>
            </a:r>
          </a:p>
          <a:p>
            <a:pPr marL="0" indent="0">
              <a:buNone/>
            </a:pPr>
            <a:r>
              <a:rPr lang="en-IN" dirty="0" err="1"/>
              <a:t>Plt.title</a:t>
            </a:r>
            <a:r>
              <a:rPr lang="en-IN" dirty="0"/>
              <a:t>(“ data ”)</a:t>
            </a:r>
          </a:p>
          <a:p>
            <a:pPr marL="0" indent="0">
              <a:buNone/>
            </a:pPr>
            <a:r>
              <a:rPr lang="en-IN" dirty="0" err="1"/>
              <a:t>Plt.imshow</a:t>
            </a:r>
            <a:r>
              <a:rPr lang="en-IN" dirty="0"/>
              <a:t>(</a:t>
            </a:r>
            <a:r>
              <a:rPr lang="en-IN" dirty="0" err="1"/>
              <a:t>image,cmap</a:t>
            </a:r>
            <a:r>
              <a:rPr lang="en-IN" dirty="0"/>
              <a:t>=‘</a:t>
            </a:r>
            <a:r>
              <a:rPr lang="en-IN" dirty="0" err="1"/>
              <a:t>gray</a:t>
            </a:r>
            <a:r>
              <a:rPr lang="en-IN" dirty="0"/>
              <a:t>’)</a:t>
            </a:r>
          </a:p>
          <a:p>
            <a:pPr marL="0" indent="0">
              <a:buNone/>
            </a:pPr>
            <a:r>
              <a:rPr lang="en-IN" dirty="0" err="1"/>
              <a:t>Plt.axis</a:t>
            </a:r>
            <a:r>
              <a:rPr lang="en-IN" dirty="0"/>
              <a:t>(‘off’)</a:t>
            </a:r>
          </a:p>
        </p:txBody>
      </p:sp>
    </p:spTree>
    <p:extLst>
      <p:ext uri="{BB962C8B-B14F-4D97-AF65-F5344CB8AC3E}">
        <p14:creationId xmlns:p14="http://schemas.microsoft.com/office/powerpoint/2010/main" val="326059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C508A-F463-C6E8-F987-DAB0C3AB7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159098"/>
          </a:xfrm>
        </p:spPr>
        <p:txBody>
          <a:bodyPr/>
          <a:lstStyle/>
          <a:p>
            <a:r>
              <a:rPr lang="en-US" dirty="0"/>
              <a:t>Image processing: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A9A16-2C0D-134D-6D75-A0822C7EC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10515600" cy="6078828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Edge detection: </a:t>
            </a:r>
            <a:r>
              <a:rPr lang="en-US" dirty="0" err="1"/>
              <a:t>sobel</a:t>
            </a:r>
            <a:r>
              <a:rPr lang="en-US" dirty="0"/>
              <a:t> filter</a:t>
            </a:r>
          </a:p>
          <a:p>
            <a:r>
              <a:rPr lang="en-IN" dirty="0" err="1"/>
              <a:t>sobelx</a:t>
            </a:r>
            <a:r>
              <a:rPr lang="en-IN" dirty="0"/>
              <a:t> = cv2.Sobel(</a:t>
            </a:r>
            <a:r>
              <a:rPr lang="en-IN" dirty="0" err="1"/>
              <a:t>grayimg,int</a:t>
            </a:r>
            <a:r>
              <a:rPr lang="en-IN" dirty="0"/>
              <a:t>(cv2.CV_64F),1,0,ksize=3)</a:t>
            </a:r>
          </a:p>
          <a:p>
            <a:r>
              <a:rPr lang="en-IN" b="1" dirty="0"/>
              <a:t>Noise remove</a:t>
            </a:r>
            <a:r>
              <a:rPr lang="en-IN" dirty="0"/>
              <a:t>: gaussian filter</a:t>
            </a:r>
          </a:p>
          <a:p>
            <a:r>
              <a:rPr lang="en-IN" b="1" dirty="0"/>
              <a:t>Geometric transformation</a:t>
            </a:r>
            <a:r>
              <a:rPr lang="en-IN" dirty="0"/>
              <a:t>: </a:t>
            </a:r>
          </a:p>
          <a:p>
            <a:r>
              <a:rPr lang="en-IN" dirty="0"/>
              <a:t>1. </a:t>
            </a:r>
            <a:r>
              <a:rPr lang="en-IN" dirty="0" err="1"/>
              <a:t>warpAffine</a:t>
            </a:r>
            <a:r>
              <a:rPr lang="en-IN" dirty="0"/>
              <a:t>(2x2)</a:t>
            </a:r>
          </a:p>
          <a:p>
            <a:r>
              <a:rPr lang="en-IN" dirty="0"/>
              <a:t>2. </a:t>
            </a:r>
            <a:r>
              <a:rPr lang="en-IN" dirty="0" err="1"/>
              <a:t>warpPerspective</a:t>
            </a:r>
            <a:r>
              <a:rPr lang="en-IN" dirty="0"/>
              <a:t>(3x3)</a:t>
            </a:r>
          </a:p>
          <a:p>
            <a:r>
              <a:rPr lang="en-IN" b="1" dirty="0"/>
              <a:t>Scaling</a:t>
            </a:r>
            <a:r>
              <a:rPr lang="en-IN" dirty="0"/>
              <a:t>: </a:t>
            </a:r>
          </a:p>
          <a:p>
            <a:r>
              <a:rPr lang="en-IN" dirty="0"/>
              <a:t>res = </a:t>
            </a:r>
            <a:r>
              <a:rPr lang="en-IN" dirty="0" err="1"/>
              <a:t>cv.resize</a:t>
            </a:r>
            <a:r>
              <a:rPr lang="en-IN" dirty="0"/>
              <a:t>(</a:t>
            </a:r>
            <a:r>
              <a:rPr lang="en-IN" dirty="0" err="1"/>
              <a:t>img,None,fx</a:t>
            </a:r>
            <a:r>
              <a:rPr lang="en-IN" dirty="0"/>
              <a:t>=2, </a:t>
            </a:r>
            <a:r>
              <a:rPr lang="en-IN" dirty="0" err="1"/>
              <a:t>fy</a:t>
            </a:r>
            <a:r>
              <a:rPr lang="en-IN" dirty="0"/>
              <a:t>=2, interpolation = </a:t>
            </a:r>
            <a:r>
              <a:rPr lang="en-IN" dirty="0" err="1"/>
              <a:t>cv.INTER_CUBIC</a:t>
            </a:r>
            <a:r>
              <a:rPr lang="en-IN" dirty="0"/>
              <a:t>)</a:t>
            </a:r>
          </a:p>
          <a:p>
            <a:br>
              <a:rPr lang="en-IN" dirty="0"/>
            </a:br>
            <a:r>
              <a:rPr lang="en-IN" b="1" dirty="0"/>
              <a:t>translation</a:t>
            </a:r>
            <a:r>
              <a:rPr lang="en-IN" dirty="0"/>
              <a:t>:</a:t>
            </a:r>
          </a:p>
          <a:p>
            <a:r>
              <a:rPr lang="en-US" dirty="0"/>
              <a:t>M = np.float32([[1,0,100],[0,1,50]])</a:t>
            </a:r>
            <a:endParaRPr lang="en-IN" dirty="0"/>
          </a:p>
          <a:p>
            <a:r>
              <a:rPr lang="en-US" dirty="0" err="1"/>
              <a:t>dst</a:t>
            </a:r>
            <a:r>
              <a:rPr lang="en-US" dirty="0"/>
              <a:t> = </a:t>
            </a:r>
            <a:r>
              <a:rPr lang="en-US" dirty="0" err="1"/>
              <a:t>cv.warpAffine</a:t>
            </a:r>
            <a:r>
              <a:rPr lang="en-US" dirty="0"/>
              <a:t>(</a:t>
            </a:r>
            <a:r>
              <a:rPr lang="en-US" dirty="0" err="1"/>
              <a:t>img,M</a:t>
            </a:r>
            <a:r>
              <a:rPr lang="en-US" dirty="0"/>
              <a:t>,(</a:t>
            </a:r>
            <a:r>
              <a:rPr lang="en-US" dirty="0" err="1"/>
              <a:t>cols,rows</a:t>
            </a:r>
            <a:r>
              <a:rPr lang="en-US" dirty="0"/>
              <a:t>))</a:t>
            </a:r>
          </a:p>
          <a:p>
            <a:r>
              <a:rPr lang="en-US" b="1" dirty="0"/>
              <a:t>Rotation</a:t>
            </a:r>
            <a:r>
              <a:rPr lang="en-US" dirty="0"/>
              <a:t>:</a:t>
            </a:r>
          </a:p>
          <a:p>
            <a:r>
              <a:rPr lang="en-IN" dirty="0"/>
              <a:t>M = cv.getRotationMatrix2D(((cols-1)/2.0,(rows-1)/2.0),90,1)</a:t>
            </a:r>
          </a:p>
          <a:p>
            <a:r>
              <a:rPr lang="en-IN" dirty="0" err="1"/>
              <a:t>dst</a:t>
            </a:r>
            <a:r>
              <a:rPr lang="en-IN" dirty="0"/>
              <a:t> = </a:t>
            </a:r>
            <a:r>
              <a:rPr lang="en-IN" dirty="0" err="1"/>
              <a:t>cv.warpAffine</a:t>
            </a:r>
            <a:r>
              <a:rPr lang="en-IN" dirty="0"/>
              <a:t>(</a:t>
            </a:r>
            <a:r>
              <a:rPr lang="en-IN" dirty="0" err="1"/>
              <a:t>img,M</a:t>
            </a:r>
            <a:r>
              <a:rPr lang="en-IN" dirty="0"/>
              <a:t>,(</a:t>
            </a:r>
            <a:r>
              <a:rPr lang="en-IN" dirty="0" err="1"/>
              <a:t>cols,rows</a:t>
            </a:r>
            <a:r>
              <a:rPr lang="en-IN" dirty="0"/>
              <a:t>))</a:t>
            </a:r>
          </a:p>
          <a:p>
            <a:r>
              <a:rPr lang="en-US" b="1" dirty="0"/>
              <a:t>Affine transformation:</a:t>
            </a:r>
          </a:p>
          <a:p>
            <a:r>
              <a:rPr lang="en-US" dirty="0"/>
              <a:t>Preservers lines and parallelism but not (distance and angles)</a:t>
            </a:r>
          </a:p>
          <a:p>
            <a:r>
              <a:rPr lang="en-US" b="1" dirty="0"/>
              <a:t>Perspective transformation: </a:t>
            </a:r>
            <a:r>
              <a:rPr lang="en-US" dirty="0"/>
              <a:t>image alignment</a:t>
            </a:r>
          </a:p>
          <a:p>
            <a:pPr marL="0" indent="0">
              <a:buNone/>
            </a:pPr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1242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C096-688A-4996-6099-F8DDFFC00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, </a:t>
            </a:r>
            <a:r>
              <a:rPr lang="en-US" dirty="0" err="1"/>
              <a:t>rgb</a:t>
            </a:r>
            <a:r>
              <a:rPr lang="en-US" dirty="0"/>
              <a:t>, grayscale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8B4C12-C8B1-27DA-A7D9-768163A793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45" y="1204767"/>
            <a:ext cx="13226173" cy="6003524"/>
          </a:xfrm>
        </p:spPr>
        <p:txBody>
          <a:bodyPr/>
          <a:lstStyle/>
          <a:p>
            <a:r>
              <a:rPr lang="en-US" dirty="0"/>
              <a:t>Kernel is a small matrix used to apply effects (blurring, </a:t>
            </a:r>
            <a:r>
              <a:rPr lang="en-US" dirty="0" err="1"/>
              <a:t>sharpening,outlining</a:t>
            </a:r>
            <a:r>
              <a:rPr lang="en-US" dirty="0"/>
              <a:t>)</a:t>
            </a:r>
          </a:p>
          <a:p>
            <a:r>
              <a:rPr lang="en-US" dirty="0" err="1"/>
              <a:t>Rgb</a:t>
            </a:r>
            <a:r>
              <a:rPr lang="en-US" dirty="0"/>
              <a:t> (height width, color channel) 3 color values for every pixel</a:t>
            </a:r>
          </a:p>
          <a:p>
            <a:r>
              <a:rPr lang="en-US" dirty="0"/>
              <a:t>Grayscale (height, width, intensity)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5301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2F3F4-3BB1-CA24-DFC7-EF7465099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03199"/>
            <a:ext cx="10515600" cy="1104900"/>
          </a:xfrm>
        </p:spPr>
        <p:txBody>
          <a:bodyPr>
            <a:normAutofit/>
          </a:bodyPr>
          <a:lstStyle/>
          <a:p>
            <a:r>
              <a:rPr lang="en-US" dirty="0"/>
              <a:t>Machine Vision system coordinate system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044BF-E89E-9114-DE8F-9CF60108B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100" y="571500"/>
            <a:ext cx="11071225" cy="6286500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World coordinate system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b="1" dirty="0"/>
              <a:t> </a:t>
            </a:r>
            <a:r>
              <a:rPr lang="en-US" dirty="0"/>
              <a:t>reference system for the position of the target object and it can be freely set.</a:t>
            </a:r>
          </a:p>
          <a:p>
            <a:pPr marL="0" indent="0">
              <a:buNone/>
            </a:pPr>
            <a:r>
              <a:rPr lang="en-US" b="1" dirty="0"/>
              <a:t>Major functions:</a:t>
            </a:r>
          </a:p>
          <a:p>
            <a:r>
              <a:rPr lang="en-US" dirty="0"/>
              <a:t>Defining 3d coordinate of the object</a:t>
            </a:r>
          </a:p>
          <a:p>
            <a:r>
              <a:rPr lang="en-US" dirty="0"/>
              <a:t>Determining position of calibration object.</a:t>
            </a:r>
          </a:p>
          <a:p>
            <a:r>
              <a:rPr lang="en-US" dirty="0"/>
              <a:t>Provide position of camera-coordinate</a:t>
            </a:r>
          </a:p>
          <a:p>
            <a:r>
              <a:rPr lang="en-US" dirty="0"/>
              <a:t>Determine position relationship between &gt;2 camera</a:t>
            </a:r>
          </a:p>
          <a:p>
            <a:endParaRPr lang="en-US" b="1" dirty="0"/>
          </a:p>
          <a:p>
            <a:r>
              <a:rPr lang="en-US" b="1" dirty="0"/>
              <a:t>Image coordinate system</a:t>
            </a:r>
            <a:r>
              <a:rPr lang="en-US" b="1" dirty="0">
                <a:sym typeface="Wingdings" panose="05000000000000000000" pitchFamily="2" charset="2"/>
              </a:rPr>
              <a:t>: (</a:t>
            </a:r>
            <a:r>
              <a:rPr lang="en-US" b="1" dirty="0" err="1">
                <a:sym typeface="Wingdings" panose="05000000000000000000" pitchFamily="2" charset="2"/>
              </a:rPr>
              <a:t>x,y</a:t>
            </a:r>
            <a:r>
              <a:rPr lang="en-US" b="1" dirty="0">
                <a:sym typeface="Wingdings" panose="05000000000000000000" pitchFamily="2" charset="2"/>
              </a:rPr>
              <a:t>)</a:t>
            </a:r>
            <a:endParaRPr lang="en-US" b="1" dirty="0"/>
          </a:p>
          <a:p>
            <a:r>
              <a:rPr lang="en-US" dirty="0"/>
              <a:t>On the imaging plane, but where is imaging plane?</a:t>
            </a:r>
          </a:p>
          <a:p>
            <a:r>
              <a:rPr lang="en-US" dirty="0"/>
              <a:t>Origin is mid-point of imaging plane</a:t>
            </a:r>
          </a:p>
          <a:p>
            <a:endParaRPr lang="en-US" dirty="0"/>
          </a:p>
          <a:p>
            <a:r>
              <a:rPr lang="en-US" b="1" dirty="0"/>
              <a:t>Camera coordinate system</a:t>
            </a:r>
          </a:p>
          <a:p>
            <a:r>
              <a:rPr lang="en-US" dirty="0"/>
              <a:t>Camera own perspective</a:t>
            </a:r>
          </a:p>
          <a:p>
            <a:r>
              <a:rPr lang="en-US" dirty="0"/>
              <a:t>Origin at optical center of camera</a:t>
            </a:r>
          </a:p>
          <a:p>
            <a:r>
              <a:rPr lang="en-US" dirty="0"/>
              <a:t>What is optical center of camera?</a:t>
            </a:r>
          </a:p>
          <a:p>
            <a:r>
              <a:rPr lang="en-US" dirty="0"/>
              <a:t>Z-axis is direction in which camera lens projects.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Pixel coordinate system(</a:t>
            </a:r>
            <a:r>
              <a:rPr lang="en-US" b="1" dirty="0" err="1"/>
              <a:t>u,v</a:t>
            </a:r>
            <a:r>
              <a:rPr lang="en-US" b="1" dirty="0"/>
              <a:t>)</a:t>
            </a:r>
          </a:p>
          <a:p>
            <a:pPr marL="0" indent="0">
              <a:buNone/>
            </a:pPr>
            <a:r>
              <a:rPr lang="en-US" dirty="0"/>
              <a:t>* In the imaging plane, uses pixels as units.</a:t>
            </a:r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6173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CE1B5-B98B-BDA9-3EF7-DB45A5667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901"/>
            <a:ext cx="10515600" cy="592136"/>
          </a:xfrm>
        </p:spPr>
        <p:txBody>
          <a:bodyPr>
            <a:normAutofit fontScale="90000"/>
          </a:bodyPr>
          <a:lstStyle/>
          <a:p>
            <a:r>
              <a:rPr lang="en-US" dirty="0"/>
              <a:t>Relationship b/w different coordinate system	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D30A1D7-997A-A55E-0B01-3F31669647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62314" y="1067499"/>
            <a:ext cx="2667372" cy="13527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4F289B-E65B-B847-536A-78AABD76A40F}"/>
              </a:ext>
            </a:extLst>
          </p:cNvPr>
          <p:cNvSpPr txBox="1"/>
          <p:nvPr/>
        </p:nvSpPr>
        <p:spPr>
          <a:xfrm>
            <a:off x="838200" y="1067499"/>
            <a:ext cx="34417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dx  represents width of one pixel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x/dx : no of pixels in x direction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Matrix equation-&gt;&gt;&gt;</a:t>
            </a:r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3FB927-CD25-AF5C-2B21-183C5D0F2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900" y="1067499"/>
            <a:ext cx="4394200" cy="38985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3F8BC-A7D1-82FB-3F01-BC04AE74DB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7550" y="2700236"/>
            <a:ext cx="2676899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116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9FDC2-67B4-5293-D086-2D6A269C8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04800"/>
            <a:ext cx="10515600" cy="1295400"/>
          </a:xfrm>
        </p:spPr>
        <p:txBody>
          <a:bodyPr/>
          <a:lstStyle/>
          <a:p>
            <a:r>
              <a:rPr lang="en-US" b="1" dirty="0"/>
              <a:t>Camera CS, and Pixel CS: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AAA33-B57A-6EC9-1AA1-D4DC1D12B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11200"/>
            <a:ext cx="10515600" cy="5465763"/>
          </a:xfrm>
        </p:spPr>
        <p:txBody>
          <a:bodyPr/>
          <a:lstStyle/>
          <a:p>
            <a:r>
              <a:rPr lang="en-US" dirty="0"/>
              <a:t>Camera to pixel is a 3d-&gt;2d transformation( projection transformation)</a:t>
            </a:r>
          </a:p>
          <a:p>
            <a:r>
              <a:rPr lang="en-US" dirty="0"/>
              <a:t>How do we do pt?</a:t>
            </a:r>
          </a:p>
          <a:p>
            <a:r>
              <a:rPr lang="en-IN" dirty="0"/>
              <a:t>Point in space when projected </a:t>
            </a:r>
          </a:p>
          <a:p>
            <a:pPr marL="0" indent="0">
              <a:buNone/>
            </a:pPr>
            <a:r>
              <a:rPr lang="en-IN" dirty="0"/>
              <a:t>On image plane aligns with </a:t>
            </a:r>
          </a:p>
          <a:p>
            <a:pPr marL="0" indent="0">
              <a:buNone/>
            </a:pPr>
            <a:r>
              <a:rPr lang="en-IN" dirty="0"/>
              <a:t>Optical </a:t>
            </a:r>
            <a:r>
              <a:rPr lang="en-IN" dirty="0" err="1"/>
              <a:t>center</a:t>
            </a:r>
            <a:r>
              <a:rPr lang="en-IN" dirty="0"/>
              <a:t> of camera</a:t>
            </a:r>
          </a:p>
          <a:p>
            <a:pPr marL="0" indent="0">
              <a:buNone/>
            </a:pPr>
            <a:r>
              <a:rPr lang="en-IN" dirty="0"/>
              <a:t>On a straight line</a:t>
            </a:r>
          </a:p>
          <a:p>
            <a:r>
              <a:rPr lang="en-IN" dirty="0"/>
              <a:t>Establish camera cs with optical</a:t>
            </a:r>
          </a:p>
          <a:p>
            <a:pPr marL="0" indent="0">
              <a:buNone/>
            </a:pPr>
            <a:r>
              <a:rPr lang="en-IN" dirty="0" err="1"/>
              <a:t>Center</a:t>
            </a:r>
            <a:r>
              <a:rPr lang="en-IN" dirty="0"/>
              <a:t> as origin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4138F4-1736-03DA-7488-FCAA668A6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630" y="1160618"/>
            <a:ext cx="5125304" cy="39677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5C6CD8-26CD-99EB-54C5-C176CE3E2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85" y="5151357"/>
            <a:ext cx="6125430" cy="11526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9ACF98-C414-BD67-EEED-ED46DF5312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3630" y="5416537"/>
            <a:ext cx="4572638" cy="120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890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3501E-B086-E846-F042-CE904F690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246062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World coordinate system and camera coordinate system:</a:t>
            </a:r>
            <a:br>
              <a:rPr lang="en-US" b="1" dirty="0"/>
            </a:b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113001-DE92-26A3-66C5-2F6BCFBE01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8699"/>
            <a:ext cx="10515600" cy="5148263"/>
          </a:xfrm>
        </p:spPr>
        <p:txBody>
          <a:bodyPr/>
          <a:lstStyle/>
          <a:p>
            <a:r>
              <a:rPr lang="en-US" dirty="0"/>
              <a:t>3-d, right-handed system, all axes perpendicular.</a:t>
            </a:r>
          </a:p>
          <a:p>
            <a:r>
              <a:rPr lang="en-US" dirty="0"/>
              <a:t>Conversion is a rigid-body transformation(rigid cause it doesn’t change the shape.</a:t>
            </a:r>
          </a:p>
          <a:p>
            <a:r>
              <a:rPr lang="en-US" dirty="0"/>
              <a:t>Converting coordinate from one system to another we first rotate and make all axes parallel then we translate to make </a:t>
            </a:r>
            <a:r>
              <a:rPr lang="en-US" dirty="0" err="1"/>
              <a:t>em</a:t>
            </a:r>
            <a:r>
              <a:rPr lang="en-US" dirty="0"/>
              <a:t> algin together.</a:t>
            </a:r>
          </a:p>
          <a:p>
            <a:r>
              <a:rPr lang="en-US" dirty="0"/>
              <a:t>Rotation and translation determines the relationship.</a:t>
            </a:r>
          </a:p>
          <a:p>
            <a:r>
              <a:rPr lang="en-US" dirty="0"/>
              <a:t>Different equations used when rotating along different axes</a:t>
            </a:r>
          </a:p>
          <a:p>
            <a:r>
              <a:rPr lang="en-US" dirty="0"/>
              <a:t>Eg: for z-axis:</a:t>
            </a:r>
          </a:p>
          <a:p>
            <a:r>
              <a:rPr lang="en-US" dirty="0"/>
              <a:t>Note: z-coordinate </a:t>
            </a:r>
          </a:p>
          <a:p>
            <a:pPr marL="0" indent="0">
              <a:buNone/>
            </a:pPr>
            <a:r>
              <a:rPr lang="en-US" dirty="0"/>
              <a:t>Wont change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E27178-CFA6-7A9A-DBF5-8D9BA11F0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754" y="4324188"/>
            <a:ext cx="4410691" cy="23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106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B710C-44B8-B9B1-9F3A-8CDD29D01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0" y="101601"/>
            <a:ext cx="11849100" cy="579436"/>
          </a:xfrm>
        </p:spPr>
        <p:txBody>
          <a:bodyPr>
            <a:normAutofit fontScale="90000"/>
          </a:bodyPr>
          <a:lstStyle/>
          <a:p>
            <a:r>
              <a:rPr lang="en-US" dirty="0"/>
              <a:t>World co-ordinate to pixel coordinate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3CA0E-9398-E99C-3854-BD1DCDA96D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300" y="812800"/>
            <a:ext cx="11849100" cy="5943599"/>
          </a:xfrm>
        </p:spPr>
        <p:txBody>
          <a:bodyPr/>
          <a:lstStyle/>
          <a:p>
            <a:r>
              <a:rPr lang="en-US" dirty="0"/>
              <a:t>World c-o -&gt;Camera c-o -&gt; Image c-o -&gt;pixel- c-o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B42557-BDBE-391C-DE97-F7631A8E0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38" y="1509609"/>
            <a:ext cx="5363323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797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F1611-354C-D8A0-23F9-7B75C548C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381000"/>
          </a:xfrm>
        </p:spPr>
        <p:txBody>
          <a:bodyPr>
            <a:normAutofit fontScale="90000"/>
          </a:bodyPr>
          <a:lstStyle/>
          <a:p>
            <a:r>
              <a:rPr lang="en-US" dirty="0"/>
              <a:t>Intrinsic and extrinsic parameters: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4FF0E-0BAA-CFC4-2477-7B103A14A1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546100"/>
            <a:ext cx="11430000" cy="7259001"/>
          </a:xfrm>
        </p:spPr>
        <p:txBody>
          <a:bodyPr>
            <a:normAutofit/>
          </a:bodyPr>
          <a:lstStyle/>
          <a:p>
            <a:r>
              <a:rPr lang="en-US" dirty="0"/>
              <a:t>Intrinsic parameters include focal length, decenter coefficient, and skew coefficient.</a:t>
            </a:r>
            <a:br>
              <a:rPr lang="en-US" dirty="0"/>
            </a:br>
            <a:r>
              <a:rPr lang="en-US" dirty="0"/>
              <a:t>(1) </a:t>
            </a:r>
            <a:r>
              <a:rPr lang="en-US" b="1" dirty="0"/>
              <a:t>Focal length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(2) </a:t>
            </a:r>
            <a:r>
              <a:rPr lang="en-US" b="1" dirty="0"/>
              <a:t>Decenter coefficient: </a:t>
            </a:r>
            <a:r>
              <a:rPr lang="en-US" dirty="0"/>
              <a:t>offset by misalignment of lens.</a:t>
            </a:r>
            <a:br>
              <a:rPr lang="en-US" dirty="0"/>
            </a:br>
            <a:r>
              <a:rPr lang="en-US" dirty="0"/>
              <a:t>(3) </a:t>
            </a:r>
            <a:r>
              <a:rPr lang="en-US" b="1" dirty="0"/>
              <a:t>Skew Coefficient: </a:t>
            </a:r>
            <a:r>
              <a:rPr lang="en-US" dirty="0"/>
              <a:t>when image plane is skew, transformation is needed.</a:t>
            </a:r>
          </a:p>
          <a:p>
            <a:pPr lvl="1"/>
            <a:r>
              <a:rPr lang="en-US" dirty="0"/>
              <a:t>Why transformation from rectangular to skew plane?</a:t>
            </a:r>
          </a:p>
          <a:p>
            <a:pPr fontAlgn="base"/>
            <a:r>
              <a:rPr lang="en-US" b="1" dirty="0"/>
              <a:t>Extrinsic parameters:</a:t>
            </a:r>
          </a:p>
          <a:p>
            <a:pPr marL="0" indent="0">
              <a:buNone/>
            </a:pPr>
            <a:r>
              <a:rPr lang="en-US" sz="2400" dirty="0"/>
              <a:t>Represents relative position </a:t>
            </a:r>
          </a:p>
          <a:p>
            <a:pPr marL="0" indent="0">
              <a:buNone/>
            </a:pPr>
            <a:r>
              <a:rPr lang="en-US" sz="2400" dirty="0"/>
              <a:t>and orientation </a:t>
            </a:r>
          </a:p>
          <a:p>
            <a:pPr marL="0" indent="0">
              <a:buNone/>
            </a:pPr>
            <a:r>
              <a:rPr lang="en-US" sz="2400" dirty="0"/>
              <a:t>between </a:t>
            </a:r>
            <a:r>
              <a:rPr lang="en-US" sz="2400" dirty="0" err="1"/>
              <a:t>tof</a:t>
            </a:r>
            <a:r>
              <a:rPr lang="en-US" sz="2400" dirty="0"/>
              <a:t> camera</a:t>
            </a:r>
          </a:p>
          <a:p>
            <a:pPr marL="0" indent="0">
              <a:buNone/>
            </a:pPr>
            <a:r>
              <a:rPr lang="en-US" sz="2400" dirty="0"/>
              <a:t> and RGB camera,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7B4EF8-0A03-BD9E-E27A-B487F3F35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1088876"/>
            <a:ext cx="3846940" cy="21232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21BA09-2767-E410-9772-E8F31A2FC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418" y="4810903"/>
            <a:ext cx="4240567" cy="1479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77B2D6-8081-F8B2-0CBC-EE07269E86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0381" y="4641578"/>
            <a:ext cx="4134037" cy="1818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672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EB6D5-119B-CD55-2D5E-7C9844F78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" y="152401"/>
            <a:ext cx="11836400" cy="736599"/>
          </a:xfrm>
        </p:spPr>
        <p:txBody>
          <a:bodyPr/>
          <a:lstStyle/>
          <a:p>
            <a:r>
              <a:rPr lang="en-US" dirty="0"/>
              <a:t>Depth map into point cloud map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68B0E-4785-4A45-956C-B3AECD885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" y="1054100"/>
            <a:ext cx="11976100" cy="5122863"/>
          </a:xfrm>
        </p:spPr>
        <p:txBody>
          <a:bodyPr/>
          <a:lstStyle/>
          <a:p>
            <a:r>
              <a:rPr lang="en-US" dirty="0"/>
              <a:t>How is depth map made?</a:t>
            </a:r>
          </a:p>
          <a:p>
            <a:r>
              <a:rPr lang="en-US" dirty="0"/>
              <a:t>How is point cloud made?</a:t>
            </a:r>
          </a:p>
          <a:p>
            <a:r>
              <a:rPr lang="en-US" dirty="0"/>
              <a:t>Converting pixel in a depth image </a:t>
            </a:r>
          </a:p>
          <a:p>
            <a:r>
              <a:rPr lang="en-US" dirty="0"/>
              <a:t>into a point in 3d space 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104929-E7A4-6A3F-DAD9-6FEF21182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3481" y="262263"/>
            <a:ext cx="3486637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6044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51323-115A-09F4-C9EA-F64EAB0A4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A089F-E3E3-7992-FBE6-698502CA6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156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ED76C-9ED9-50A4-D00F-929F3CA4B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75" y="1031875"/>
            <a:ext cx="10515600" cy="625475"/>
          </a:xfrm>
        </p:spPr>
        <p:txBody>
          <a:bodyPr>
            <a:normAutofit fontScale="90000"/>
          </a:bodyPr>
          <a:lstStyle/>
          <a:p>
            <a:pPr fontAlgn="base"/>
            <a:r>
              <a:rPr lang="en-US" b="1" dirty="0"/>
              <a:t>	 Various Forms of Extrinsic Parameters</a:t>
            </a:r>
            <a:br>
              <a:rPr lang="en-US" b="1" dirty="0"/>
            </a:b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1C953-42E5-D6FA-9B2B-28C79BCA6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base">
              <a:buNone/>
            </a:pPr>
            <a:r>
              <a:rPr lang="en-US" b="1" dirty="0"/>
              <a:t>Euler Angles</a:t>
            </a:r>
          </a:p>
          <a:p>
            <a:pPr marL="0" indent="0" fontAlgn="base">
              <a:buNone/>
            </a:pPr>
            <a:r>
              <a:rPr lang="en-US" dirty="0"/>
              <a:t>Gimble lock issue</a:t>
            </a:r>
          </a:p>
          <a:p>
            <a:pPr fontAlgn="base"/>
            <a:r>
              <a:rPr lang="en-IN" b="1" dirty="0"/>
              <a:t>Quaternions</a:t>
            </a:r>
          </a:p>
          <a:p>
            <a:pPr fontAlgn="base"/>
            <a:r>
              <a:rPr lang="en-IN" dirty="0"/>
              <a:t>Don’t face gimble lock issue</a:t>
            </a:r>
          </a:p>
        </p:txBody>
      </p:sp>
    </p:spTree>
    <p:extLst>
      <p:ext uri="{BB962C8B-B14F-4D97-AF65-F5344CB8AC3E}">
        <p14:creationId xmlns:p14="http://schemas.microsoft.com/office/powerpoint/2010/main" val="3517690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88D16-1391-9EA0-3860-EACB386FD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Gimble lock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40794-2209-1459-DA83-017569432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occurs when the Pitch = +-90 deg. In this orientation, the Roll and Yaw angles will become mathematically unstable. </a:t>
            </a:r>
          </a:p>
        </p:txBody>
      </p:sp>
    </p:spTree>
    <p:extLst>
      <p:ext uri="{BB962C8B-B14F-4D97-AF65-F5344CB8AC3E}">
        <p14:creationId xmlns:p14="http://schemas.microsoft.com/office/powerpoint/2010/main" val="3279833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370B8-16A3-B090-0AE1-265D8EC38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Quaternions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30F71-6666-7F4B-56E6-C6EAB6D6C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25"/>
            <a:ext cx="10515600" cy="47577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Quaternions are represented by packs of 4 numbers (</a:t>
            </a:r>
            <a:r>
              <a:rPr lang="en-US" dirty="0" err="1"/>
              <a:t>a,b,c,d</a:t>
            </a:r>
            <a:r>
              <a:rPr lang="en-US" dirty="0"/>
              <a:t>)</a:t>
            </a:r>
          </a:p>
          <a:p>
            <a:r>
              <a:rPr lang="en-US" dirty="0"/>
              <a:t>Quaternions of the form (a,0,0,0) behave exactly like real numbers a and are identified with them</a:t>
            </a:r>
          </a:p>
          <a:p>
            <a:r>
              <a:rPr lang="en-US" dirty="0" err="1"/>
              <a:t>i,j,k</a:t>
            </a:r>
            <a:r>
              <a:rPr lang="en-US" dirty="0"/>
              <a:t> are special quaternions defined by </a:t>
            </a:r>
            <a:r>
              <a:rPr lang="en-US" dirty="0" err="1"/>
              <a:t>i</a:t>
            </a:r>
            <a:r>
              <a:rPr lang="en-US" dirty="0"/>
              <a:t>=(0,1,0,0) j=(0,0,1,0) and k=(0,0,0,1)</a:t>
            </a:r>
          </a:p>
          <a:p>
            <a:r>
              <a:rPr lang="en-US" dirty="0"/>
              <a:t>Addition and subtraction of quaternions is component-wise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65336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EE12E-AD26-9075-B1BB-523852C59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 </a:t>
            </a:r>
            <a:r>
              <a:rPr lang="en-US" dirty="0" err="1"/>
              <a:t>dof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AAD6C-D6AF-C053-4C48-98E76B5F2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Human head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99244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2A80D-D952-CBA3-D2A0-20B08B0A9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Quaternions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E85AB-4EEF-1A94-C56B-C8BD10725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encoding orientation :quaternion.</a:t>
            </a:r>
          </a:p>
          <a:p>
            <a:r>
              <a:rPr lang="en-US" dirty="0"/>
              <a:t> 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EE03CA-FD3A-8F01-CE20-059A24BB8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850" y="2337594"/>
            <a:ext cx="2269746" cy="270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1227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EAE7B-8DDC-EE8D-9294-8110B133A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475"/>
            <a:ext cx="10515600" cy="858128"/>
          </a:xfrm>
        </p:spPr>
        <p:txBody>
          <a:bodyPr/>
          <a:lstStyle/>
          <a:p>
            <a:r>
              <a:rPr lang="en-US" dirty="0"/>
              <a:t>CNN and Neural Network</a:t>
            </a:r>
            <a:endParaRPr lang="en-IN" dirty="0"/>
          </a:p>
        </p:txBody>
      </p:sp>
      <p:pic>
        <p:nvPicPr>
          <p:cNvPr id="3075" name="Picture 3" descr="A Gentle Introduction to Neural Networks - CleverTap">
            <a:extLst>
              <a:ext uri="{FF2B5EF4-FFF2-40B4-BE49-F238E27FC236}">
                <a16:creationId xmlns:a16="http://schemas.microsoft.com/office/drawing/2014/main" id="{5D63609B-5F83-B6D2-DB41-9B8D72D8BFC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5193" y="1706318"/>
            <a:ext cx="5624311" cy="264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 descr="Introduction to Convolutional Neural Network - Analytics Vidhya">
            <a:extLst>
              <a:ext uri="{FF2B5EF4-FFF2-40B4-BE49-F238E27FC236}">
                <a16:creationId xmlns:a16="http://schemas.microsoft.com/office/drawing/2014/main" id="{DFB9900A-37AA-39B4-1C47-12EE85E50F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6AA28B4-372C-991C-1CDA-B92C69CEE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421228"/>
            <a:ext cx="4713506" cy="2814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3791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61210-8329-B1BF-F1A0-83A2653D1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Line-mod dataset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28F25F-E584-04A1-8ECF-EF8A8DFD04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8288" y="1825625"/>
            <a:ext cx="6375423" cy="435133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DC476F5-48E2-0308-4AAC-5F9330726A63}"/>
              </a:ext>
            </a:extLst>
          </p:cNvPr>
          <p:cNvSpPr txBox="1"/>
          <p:nvPr/>
        </p:nvSpPr>
        <p:spPr>
          <a:xfrm>
            <a:off x="476250" y="2333625"/>
            <a:ext cx="20097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6d pose estimation dataset</a:t>
            </a:r>
          </a:p>
          <a:p>
            <a:r>
              <a:rPr lang="en-US" dirty="0"/>
              <a:t>15 </a:t>
            </a:r>
            <a:r>
              <a:rPr lang="en-US"/>
              <a:t>different objects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9727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</TotalTime>
  <Words>919</Words>
  <Application>Microsoft Office PowerPoint</Application>
  <PresentationFormat>Widescreen</PresentationFormat>
  <Paragraphs>156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Wingdings</vt:lpstr>
      <vt:lpstr>Office Theme</vt:lpstr>
      <vt:lpstr>Progress update Sanjay Singh Gurjar</vt:lpstr>
      <vt:lpstr>topics</vt:lpstr>
      <vt:lpstr>topics</vt:lpstr>
      <vt:lpstr>Cv2 and matplotlib</vt:lpstr>
      <vt:lpstr>Image processing:</vt:lpstr>
      <vt:lpstr>Kernel , rgb, grayscale</vt:lpstr>
      <vt:lpstr>Machine Vision system coordinate system</vt:lpstr>
      <vt:lpstr>Relationship b/w different coordinate system </vt:lpstr>
      <vt:lpstr>Camera CS, and Pixel CS:</vt:lpstr>
      <vt:lpstr>World coordinate system and camera coordinate system: </vt:lpstr>
      <vt:lpstr>World co-ordinate to pixel coordinate</vt:lpstr>
      <vt:lpstr>Intrinsic and extrinsic parameters: </vt:lpstr>
      <vt:lpstr>Depth map into point cloud map</vt:lpstr>
      <vt:lpstr>PowerPoint Presentation</vt:lpstr>
      <vt:lpstr>  Various Forms of Extrinsic Parameters  </vt:lpstr>
      <vt:lpstr>Gimble lock</vt:lpstr>
      <vt:lpstr>Quaternions</vt:lpstr>
      <vt:lpstr>6 dof</vt:lpstr>
      <vt:lpstr>Quaternions</vt:lpstr>
      <vt:lpstr>CNN and Neural Network</vt:lpstr>
      <vt:lpstr>Line-mod dataset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Sanjay Singh</dc:creator>
  <cp:lastModifiedBy>Sanjay Singh</cp:lastModifiedBy>
  <cp:revision>40</cp:revision>
  <dcterms:created xsi:type="dcterms:W3CDTF">2025-08-27T15:59:03Z</dcterms:created>
  <dcterms:modified xsi:type="dcterms:W3CDTF">2025-08-29T05:55:11Z</dcterms:modified>
</cp:coreProperties>
</file>